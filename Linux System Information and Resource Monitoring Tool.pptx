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68" r:id="rId5"/>
    <p:sldId id="271" r:id="rId6"/>
    <p:sldId id="270" r:id="rId7"/>
    <p:sldId id="272" r:id="rId8"/>
    <p:sldId id="267" r:id="rId9"/>
  </p:sldIdLst>
  <p:sldSz cx="18288000" cy="10287000"/>
  <p:notesSz cx="6858000" cy="9144000"/>
  <p:embeddedFontLst>
    <p:embeddedFont>
      <p:font typeface="Cormorant Garamond Bold Italics" panose="020B0604020202020204" charset="0"/>
      <p:regular r:id="rId10"/>
    </p:embeddedFont>
    <p:embeddedFont>
      <p:font typeface="Quicksan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3764" y="3437004"/>
            <a:ext cx="16229942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0" b="1" i="1" dirty="0">
                <a:solidFill>
                  <a:srgbClr val="0D4866"/>
                </a:solidFill>
                <a:latin typeface="Cormorant Garamond Bold Italics" panose="020B0604020202020204" charset="0"/>
              </a:rPr>
              <a:t>Linux System Information and
Resource Monitoring Tool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555605" y="7962900"/>
            <a:ext cx="5644461" cy="1682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ts val="800"/>
              </a:spcBef>
            </a:pPr>
            <a:r>
              <a:rPr lang="en-IN" sz="3200" dirty="0">
                <a:solidFill>
                  <a:srgbClr val="232D34"/>
                </a:solidFill>
              </a:rPr>
              <a:t>2520030158  –  S. Anusha</a:t>
            </a:r>
          </a:p>
          <a:p>
            <a:pPr algn="ctr">
              <a:spcBef>
                <a:spcPts val="800"/>
              </a:spcBef>
            </a:pPr>
            <a:r>
              <a:rPr lang="en-IN" sz="3200" dirty="0">
                <a:solidFill>
                  <a:srgbClr val="232D34"/>
                </a:solidFill>
              </a:rPr>
              <a:t>2520030161  –  M. </a:t>
            </a:r>
            <a:r>
              <a:rPr lang="en-IN" sz="3200" dirty="0" err="1">
                <a:solidFill>
                  <a:srgbClr val="232D34"/>
                </a:solidFill>
              </a:rPr>
              <a:t>SriNikitha</a:t>
            </a:r>
            <a:endParaRPr lang="en-IN" sz="3200" dirty="0">
              <a:solidFill>
                <a:srgbClr val="232D34"/>
              </a:solidFill>
            </a:endParaRPr>
          </a:p>
          <a:p>
            <a:pPr algn="ctr">
              <a:spcBef>
                <a:spcPts val="800"/>
              </a:spcBef>
            </a:pPr>
            <a:r>
              <a:rPr lang="en-IN" sz="3200" dirty="0">
                <a:solidFill>
                  <a:srgbClr val="232D34"/>
                </a:solidFill>
              </a:rPr>
              <a:t>2520030216  –  D. Deekshitha</a:t>
            </a:r>
            <a:endParaRPr lang="en-US" sz="32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322179" y="1967581"/>
            <a:ext cx="11643643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3200" dirty="0">
                <a:solidFill>
                  <a:srgbClr val="2A6887"/>
                </a:solidFill>
              </a:rPr>
              <a:t>Operating Systems and Systems Programming (25CS2104E)</a:t>
            </a:r>
          </a:p>
        </p:txBody>
      </p:sp>
      <p:sp>
        <p:nvSpPr>
          <p:cNvPr id="9" name="Freeform 9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019298"/>
            <a:chOff x="0" y="0"/>
            <a:chExt cx="4816593" cy="1079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599709"/>
            <a:ext cx="9914964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b="1" i="1" dirty="0">
                <a:solidFill>
                  <a:srgbClr val="0D4866"/>
                </a:solidFill>
                <a:latin typeface="Cormorant Garamond Bold Italics" panose="020B0604020202020204" charset="0"/>
              </a:rPr>
              <a:t>Abstract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8304001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940528-B728-8DEF-4184-4602D6B79AD3}"/>
              </a:ext>
            </a:extLst>
          </p:cNvPr>
          <p:cNvSpPr txBox="1"/>
          <p:nvPr/>
        </p:nvSpPr>
        <p:spPr>
          <a:xfrm>
            <a:off x="609600" y="2843101"/>
            <a:ext cx="16687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rgbClr val="232D34"/>
                </a:solidFill>
                <a:latin typeface="Aptos"/>
              </a:rPr>
              <a:t>Linux System Information and Resource Monitoring Tool is a Linux-based system programming project designed to monitor and display important system and resource information. The tool collects CPU usage, memory utilization, disk usage, system uptime, and running-process information using Linux system interfaces and system calls. It mainly uses the /proc filesystem, file I/O, process-related system calls, and POSIX APIs to obtain system information. A terminal-based interface presents the collected details in a simple form, helping users understand Linux resource and process management while gaining practical experience with Operating Systems and Systems Programming concepts.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D1ED8-0A89-ED38-618C-A4396270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038E07B-7CA5-1D65-107E-7CBAB515CCFE}"/>
              </a:ext>
            </a:extLst>
          </p:cNvPr>
          <p:cNvGrpSpPr/>
          <p:nvPr/>
        </p:nvGrpSpPr>
        <p:grpSpPr>
          <a:xfrm>
            <a:off x="-14748" y="0"/>
            <a:ext cx="18288000" cy="2247899"/>
            <a:chOff x="0" y="0"/>
            <a:chExt cx="4816593" cy="10797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08B4754-FB49-020F-9DC6-3968663A5E05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5574A1F-BE0E-24AE-0DDB-D5FC05777A2F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E2851C1-5A93-E109-6783-6A8B242C4FB9}"/>
              </a:ext>
            </a:extLst>
          </p:cNvPr>
          <p:cNvSpPr txBox="1"/>
          <p:nvPr/>
        </p:nvSpPr>
        <p:spPr>
          <a:xfrm>
            <a:off x="1028700" y="599709"/>
            <a:ext cx="9914964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b="1" i="1" dirty="0">
                <a:solidFill>
                  <a:srgbClr val="0D4866"/>
                </a:solidFill>
                <a:latin typeface="Cormorant Garamond Bold Italics" panose="020B0604020202020204" charset="0"/>
              </a:rPr>
              <a:t>Problem Statement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0EA1FB07-3E47-854A-9428-4B13DC0363B2}"/>
              </a:ext>
            </a:extLst>
          </p:cNvPr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A4FD98B3-EA92-8134-1657-89BCA8A57FDB}"/>
              </a:ext>
            </a:extLst>
          </p:cNvPr>
          <p:cNvSpPr/>
          <p:nvPr/>
        </p:nvSpPr>
        <p:spPr>
          <a:xfrm>
            <a:off x="8304001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0DB40-641B-A79F-EEE6-7323962FF156}"/>
              </a:ext>
            </a:extLst>
          </p:cNvPr>
          <p:cNvSpPr txBox="1"/>
          <p:nvPr/>
        </p:nvSpPr>
        <p:spPr>
          <a:xfrm>
            <a:off x="533399" y="2866043"/>
            <a:ext cx="172212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rPr lang="en-US" sz="3600" dirty="0"/>
              <a:t>• Linux provides a large amount of information about CPU, memory, storage, uptime and running processes.</a:t>
            </a:r>
          </a:p>
          <a:p>
            <a:pPr algn="just">
              <a:spcAft>
                <a:spcPts val="12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rPr lang="en-US" sz="3600" dirty="0"/>
              <a:t>• This information is distributed across different system interfaces and files.</a:t>
            </a:r>
          </a:p>
          <a:p>
            <a:pPr algn="just">
              <a:spcAft>
                <a:spcPts val="12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rPr lang="en-US" sz="3600" dirty="0"/>
              <a:t>• Beginners may find it difficult to locate, understand and monitor these resources from separate interfaces.</a:t>
            </a:r>
          </a:p>
          <a:p>
            <a:pPr algn="just">
              <a:spcAft>
                <a:spcPts val="12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rPr lang="en-US" sz="3600" dirty="0"/>
              <a:t>• There is a need for a simple terminal-based tool that collects the important information in one place.</a:t>
            </a:r>
          </a:p>
          <a:p>
            <a:pPr algn="just">
              <a:spcAft>
                <a:spcPts val="12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rPr lang="en-US" sz="3600" dirty="0"/>
              <a:t>• The project also provides a practical way to connect Linux OS concepts with actual system data.</a:t>
            </a:r>
          </a:p>
        </p:txBody>
      </p:sp>
    </p:spTree>
    <p:extLst>
      <p:ext uri="{BB962C8B-B14F-4D97-AF65-F5344CB8AC3E}">
        <p14:creationId xmlns:p14="http://schemas.microsoft.com/office/powerpoint/2010/main" val="148273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A4A2D-1EE1-6359-88A3-83EC0CCE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1F0BD8A-E804-26CD-D5BE-0B4B4E7B0E5F}"/>
              </a:ext>
            </a:extLst>
          </p:cNvPr>
          <p:cNvGrpSpPr/>
          <p:nvPr/>
        </p:nvGrpSpPr>
        <p:grpSpPr>
          <a:xfrm>
            <a:off x="0" y="0"/>
            <a:ext cx="18288000" cy="2095498"/>
            <a:chOff x="0" y="0"/>
            <a:chExt cx="4816593" cy="10797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1E5E52C-8858-5DEE-D92A-173C5EDA9EF8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B498083-1D1A-CA96-13F6-12FA640E3ED2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45AE791C-1343-3C83-8E63-2B4FA61C8320}"/>
              </a:ext>
            </a:extLst>
          </p:cNvPr>
          <p:cNvSpPr txBox="1"/>
          <p:nvPr/>
        </p:nvSpPr>
        <p:spPr>
          <a:xfrm>
            <a:off x="1028700" y="599709"/>
            <a:ext cx="9914964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b="1" dirty="0">
                <a:solidFill>
                  <a:srgbClr val="0D4866"/>
                </a:solidFill>
                <a:latin typeface="Cormorant Garamond Bold Italics" panose="020B0604020202020204" charset="0"/>
              </a:rPr>
              <a:t>Project Methodology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DF62162D-3614-70D5-4B15-8287DF4BFEEF}"/>
              </a:ext>
            </a:extLst>
          </p:cNvPr>
          <p:cNvSpPr/>
          <p:nvPr/>
        </p:nvSpPr>
        <p:spPr>
          <a:xfrm>
            <a:off x="5897880" y="94107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99C764B2-C171-DE0B-2C93-EC7DDA5F5722}"/>
              </a:ext>
            </a:extLst>
          </p:cNvPr>
          <p:cNvSpPr/>
          <p:nvPr/>
        </p:nvSpPr>
        <p:spPr>
          <a:xfrm>
            <a:off x="8304001" y="98466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890299-CFCC-80C0-5804-A8B00660E696}"/>
              </a:ext>
            </a:extLst>
          </p:cNvPr>
          <p:cNvSpPr/>
          <p:nvPr/>
        </p:nvSpPr>
        <p:spPr>
          <a:xfrm>
            <a:off x="809244" y="2292022"/>
            <a:ext cx="943356" cy="812451"/>
          </a:xfrm>
          <a:prstGeom prst="ellipse">
            <a:avLst/>
          </a:prstGeom>
          <a:solidFill>
            <a:srgbClr val="2A6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1FFB15-E3D8-8F14-D3B1-B002F7B7023D}"/>
              </a:ext>
            </a:extLst>
          </p:cNvPr>
          <p:cNvSpPr txBox="1"/>
          <p:nvPr/>
        </p:nvSpPr>
        <p:spPr>
          <a:xfrm>
            <a:off x="2286000" y="2363569"/>
            <a:ext cx="1470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rgbClr val="232D34"/>
                </a:solidFill>
                <a:latin typeface="Aptos"/>
              </a:rPr>
              <a:t>Collect system information from /proc and relevant Linux system calls.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DA2513-7AB5-33A8-526A-A9EAF3AFDBED}"/>
              </a:ext>
            </a:extLst>
          </p:cNvPr>
          <p:cNvSpPr/>
          <p:nvPr/>
        </p:nvSpPr>
        <p:spPr>
          <a:xfrm>
            <a:off x="809244" y="3486204"/>
            <a:ext cx="943356" cy="812451"/>
          </a:xfrm>
          <a:prstGeom prst="ellipse">
            <a:avLst/>
          </a:prstGeom>
          <a:solidFill>
            <a:srgbClr val="2A6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2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D39B2D-1A85-DC31-F239-D4CE5FF2E96D}"/>
              </a:ext>
            </a:extLst>
          </p:cNvPr>
          <p:cNvSpPr/>
          <p:nvPr/>
        </p:nvSpPr>
        <p:spPr>
          <a:xfrm>
            <a:off x="809244" y="4680386"/>
            <a:ext cx="943356" cy="812451"/>
          </a:xfrm>
          <a:prstGeom prst="ellipse">
            <a:avLst/>
          </a:prstGeom>
          <a:solidFill>
            <a:srgbClr val="2A6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5C026D8-3D01-4AD4-98F7-CF64A93AF268}"/>
              </a:ext>
            </a:extLst>
          </p:cNvPr>
          <p:cNvSpPr/>
          <p:nvPr/>
        </p:nvSpPr>
        <p:spPr>
          <a:xfrm>
            <a:off x="809244" y="5727050"/>
            <a:ext cx="943356" cy="812451"/>
          </a:xfrm>
          <a:prstGeom prst="ellipse">
            <a:avLst/>
          </a:prstGeom>
          <a:solidFill>
            <a:srgbClr val="2A6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4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31863A2-6DA7-6E46-9EAC-9513324C8569}"/>
              </a:ext>
            </a:extLst>
          </p:cNvPr>
          <p:cNvSpPr/>
          <p:nvPr/>
        </p:nvSpPr>
        <p:spPr>
          <a:xfrm>
            <a:off x="809244" y="6761242"/>
            <a:ext cx="943356" cy="812451"/>
          </a:xfrm>
          <a:prstGeom prst="ellipse">
            <a:avLst/>
          </a:prstGeom>
          <a:solidFill>
            <a:srgbClr val="2A6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5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0588378-B886-3B47-6C0C-773A4FC4BD46}"/>
              </a:ext>
            </a:extLst>
          </p:cNvPr>
          <p:cNvSpPr/>
          <p:nvPr/>
        </p:nvSpPr>
        <p:spPr>
          <a:xfrm>
            <a:off x="809244" y="7843780"/>
            <a:ext cx="943356" cy="812451"/>
          </a:xfrm>
          <a:prstGeom prst="ellipse">
            <a:avLst/>
          </a:prstGeom>
          <a:solidFill>
            <a:srgbClr val="2A6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6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901713-4717-EBF7-6A98-C44E952D4A2D}"/>
              </a:ext>
            </a:extLst>
          </p:cNvPr>
          <p:cNvSpPr txBox="1"/>
          <p:nvPr/>
        </p:nvSpPr>
        <p:spPr>
          <a:xfrm>
            <a:off x="2286000" y="3314700"/>
            <a:ext cx="14706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rgbClr val="232D34"/>
                </a:solidFill>
                <a:latin typeface="Aptos"/>
              </a:rPr>
              <a:t>Develop separate modules for CPU, memory, disk, uptime and process monitoring.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F68F79-5440-CB4E-4E1C-F0F65F5DE7BE}"/>
              </a:ext>
            </a:extLst>
          </p:cNvPr>
          <p:cNvSpPr txBox="1"/>
          <p:nvPr/>
        </p:nvSpPr>
        <p:spPr>
          <a:xfrm>
            <a:off x="2271252" y="4819829"/>
            <a:ext cx="1470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rgbClr val="232D34"/>
                </a:solidFill>
                <a:latin typeface="Aptos"/>
              </a:rPr>
              <a:t>Read and parse the required system information using file I/O.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692929-63AE-25D5-B6F2-FD77EEA8B0F1}"/>
              </a:ext>
            </a:extLst>
          </p:cNvPr>
          <p:cNvSpPr txBox="1"/>
          <p:nvPr/>
        </p:nvSpPr>
        <p:spPr>
          <a:xfrm>
            <a:off x="2344994" y="5810111"/>
            <a:ext cx="1470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rgbClr val="232D34"/>
                </a:solidFill>
                <a:latin typeface="Aptos"/>
              </a:rPr>
              <a:t>Display the collected information in a structured terminal interface.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603400-E916-3B2E-6B97-B3D70D88864F}"/>
              </a:ext>
            </a:extLst>
          </p:cNvPr>
          <p:cNvSpPr txBox="1"/>
          <p:nvPr/>
        </p:nvSpPr>
        <p:spPr>
          <a:xfrm>
            <a:off x="2344994" y="6761242"/>
            <a:ext cx="1470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rgbClr val="232D34"/>
                </a:solidFill>
                <a:latin typeface="Aptos"/>
              </a:rPr>
              <a:t>Test the application under different system loads and process conditions.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546D3C-9591-8A52-EB4E-CD1621767AEF}"/>
              </a:ext>
            </a:extLst>
          </p:cNvPr>
          <p:cNvSpPr txBox="1"/>
          <p:nvPr/>
        </p:nvSpPr>
        <p:spPr>
          <a:xfrm>
            <a:off x="2349910" y="7751524"/>
            <a:ext cx="14706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rgbClr val="232D34"/>
                </a:solidFill>
                <a:latin typeface="Aptos"/>
              </a:rPr>
              <a:t>Analyze correctness, reliability and performance of the monitoring functions.</a:t>
            </a:r>
          </a:p>
        </p:txBody>
      </p:sp>
    </p:spTree>
    <p:extLst>
      <p:ext uri="{BB962C8B-B14F-4D97-AF65-F5344CB8AC3E}">
        <p14:creationId xmlns:p14="http://schemas.microsoft.com/office/powerpoint/2010/main" val="1563486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03188-6952-8A04-A7E0-A78ED06F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217E617-36BB-BED2-7D67-CE70D483192A}"/>
              </a:ext>
            </a:extLst>
          </p:cNvPr>
          <p:cNvGrpSpPr/>
          <p:nvPr/>
        </p:nvGrpSpPr>
        <p:grpSpPr>
          <a:xfrm>
            <a:off x="0" y="21690"/>
            <a:ext cx="18288000" cy="1921410"/>
            <a:chOff x="0" y="0"/>
            <a:chExt cx="4816593" cy="10797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8F2113D-3DDE-6378-760A-D72B287E7421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CCCB35-2DE1-B520-FACB-3BB069F97897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E4AA3E4-4BCA-9DED-3ADB-7BEF45F873EF}"/>
              </a:ext>
            </a:extLst>
          </p:cNvPr>
          <p:cNvSpPr txBox="1"/>
          <p:nvPr/>
        </p:nvSpPr>
        <p:spPr>
          <a:xfrm>
            <a:off x="1028700" y="599709"/>
            <a:ext cx="9914964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b="1" i="1" dirty="0">
                <a:solidFill>
                  <a:srgbClr val="0D4866"/>
                </a:solidFill>
                <a:latin typeface="Cormorant Garamond Bold Italics" panose="020B0604020202020204" charset="0"/>
              </a:rPr>
              <a:t>Concepts Involved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8C14A59F-4497-A368-249D-40013A4545E1}"/>
              </a:ext>
            </a:extLst>
          </p:cNvPr>
          <p:cNvSpPr/>
          <p:nvPr/>
        </p:nvSpPr>
        <p:spPr>
          <a:xfrm>
            <a:off x="5897880" y="91059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695EF373-9369-2AA7-9C0B-5F5908F17822}"/>
              </a:ext>
            </a:extLst>
          </p:cNvPr>
          <p:cNvSpPr/>
          <p:nvPr/>
        </p:nvSpPr>
        <p:spPr>
          <a:xfrm>
            <a:off x="8304001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F424E-1225-8184-1F63-E091265C9403}"/>
              </a:ext>
            </a:extLst>
          </p:cNvPr>
          <p:cNvSpPr txBox="1"/>
          <p:nvPr/>
        </p:nvSpPr>
        <p:spPr>
          <a:xfrm>
            <a:off x="609598" y="2260104"/>
            <a:ext cx="1706880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lang="en-US" sz="3400" dirty="0"/>
              <a:t>• CO-1: OS service layer, user space and kernel space, system calls, shell and Linux architecture.</a:t>
            </a:r>
          </a:p>
          <a:p>
            <a:pPr algn="just"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lang="en-US" sz="3400" dirty="0"/>
              <a:t>• CO-2: Process abstraction, process lifecycle, creation, execution, synchronization and termination.</a:t>
            </a:r>
          </a:p>
          <a:p>
            <a:pPr algn="just"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lang="en-US" sz="3400" dirty="0"/>
              <a:t>• CO-3: IPC concepts including pipes, FIFOs, signals, signal handlers, process groups and sessions.</a:t>
            </a:r>
          </a:p>
          <a:p>
            <a:pPr algn="just"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lang="en-US" sz="3400" dirty="0"/>
              <a:t>• CO-4: Virtual memory, address translation, page faults, process address space, allocation and copy-on-write.</a:t>
            </a:r>
          </a:p>
          <a:p>
            <a:pPr algn="just"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lang="en-US" sz="3400" dirty="0"/>
              <a:t>• CO-5: File abstraction, </a:t>
            </a:r>
            <a:r>
              <a:rPr lang="en-US" sz="3400" dirty="0" err="1"/>
              <a:t>inodes</a:t>
            </a:r>
            <a:r>
              <a:rPr lang="en-US" sz="3400" dirty="0"/>
              <a:t>, directories, VFS, file descriptors, file I/O, </a:t>
            </a:r>
            <a:r>
              <a:rPr lang="en-US" sz="3400" dirty="0" err="1"/>
              <a:t>mmap</a:t>
            </a:r>
            <a:r>
              <a:rPr lang="en-US" sz="3400" dirty="0"/>
              <a:t> and ext4.</a:t>
            </a:r>
          </a:p>
          <a:p>
            <a:pPr algn="just"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lang="en-US" sz="3400" dirty="0"/>
              <a:t>• CO-6: Threads, race conditions, mutexes, condition variables, semaphores and deadlocks.</a:t>
            </a:r>
          </a:p>
        </p:txBody>
      </p:sp>
    </p:spTree>
    <p:extLst>
      <p:ext uri="{BB962C8B-B14F-4D97-AF65-F5344CB8AC3E}">
        <p14:creationId xmlns:p14="http://schemas.microsoft.com/office/powerpoint/2010/main" val="582102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E0F56-DB79-3CB5-84E8-4977FCE9F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3EC9D2F-A15A-D900-45E4-2CBA56F96942}"/>
              </a:ext>
            </a:extLst>
          </p:cNvPr>
          <p:cNvGrpSpPr/>
          <p:nvPr/>
        </p:nvGrpSpPr>
        <p:grpSpPr>
          <a:xfrm>
            <a:off x="0" y="0"/>
            <a:ext cx="18288000" cy="2019298"/>
            <a:chOff x="0" y="0"/>
            <a:chExt cx="4816593" cy="10797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44008A0-E710-D813-9C30-2C490DD3EDA2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244999C-827F-9F11-9123-F1EB0584C259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F01D768A-19F9-BF04-ACA4-1D18E665D72E}"/>
              </a:ext>
            </a:extLst>
          </p:cNvPr>
          <p:cNvSpPr txBox="1"/>
          <p:nvPr/>
        </p:nvSpPr>
        <p:spPr>
          <a:xfrm>
            <a:off x="1028700" y="599709"/>
            <a:ext cx="9914964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b="1" i="1" dirty="0">
                <a:solidFill>
                  <a:srgbClr val="0D4866"/>
                </a:solidFill>
                <a:latin typeface="Cormorant Garamond Bold Italics" panose="020B0604020202020204" charset="0"/>
              </a:rPr>
              <a:t>Objectives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2FE106A0-C263-D0A6-4BE9-B67B3417F44A}"/>
              </a:ext>
            </a:extLst>
          </p:cNvPr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30163614-DBD4-7DDF-C2F1-666A4B820ADF}"/>
              </a:ext>
            </a:extLst>
          </p:cNvPr>
          <p:cNvSpPr/>
          <p:nvPr/>
        </p:nvSpPr>
        <p:spPr>
          <a:xfrm>
            <a:off x="8304001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7039B-4353-B01A-024B-6D60554463E0}"/>
              </a:ext>
            </a:extLst>
          </p:cNvPr>
          <p:cNvSpPr txBox="1"/>
          <p:nvPr/>
        </p:nvSpPr>
        <p:spPr>
          <a:xfrm>
            <a:off x="2286000" y="2324100"/>
            <a:ext cx="1493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rgbClr val="232D34"/>
                </a:solidFill>
                <a:latin typeface="Aptos"/>
              </a:rPr>
              <a:t>Retrieve and display CPU, memory, disk and system information using Linux system interfaces.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C6A93B-39E0-1128-928A-DE86A39AB9D0}"/>
              </a:ext>
            </a:extLst>
          </p:cNvPr>
          <p:cNvSpPr/>
          <p:nvPr/>
        </p:nvSpPr>
        <p:spPr>
          <a:xfrm>
            <a:off x="826450" y="2324100"/>
            <a:ext cx="943356" cy="812451"/>
          </a:xfrm>
          <a:prstGeom prst="ellipse">
            <a:avLst/>
          </a:prstGeom>
          <a:solidFill>
            <a:srgbClr val="2A6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B522C82-ACEF-BAAD-7CC6-47B66B4B044D}"/>
              </a:ext>
            </a:extLst>
          </p:cNvPr>
          <p:cNvSpPr/>
          <p:nvPr/>
        </p:nvSpPr>
        <p:spPr>
          <a:xfrm>
            <a:off x="809244" y="3818336"/>
            <a:ext cx="943356" cy="812451"/>
          </a:xfrm>
          <a:prstGeom prst="ellipse">
            <a:avLst/>
          </a:prstGeom>
          <a:solidFill>
            <a:srgbClr val="2A6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2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14F8C2-1DA4-7FB8-ADD7-F612582AED53}"/>
              </a:ext>
            </a:extLst>
          </p:cNvPr>
          <p:cNvSpPr/>
          <p:nvPr/>
        </p:nvSpPr>
        <p:spPr>
          <a:xfrm>
            <a:off x="826450" y="5517576"/>
            <a:ext cx="943356" cy="812451"/>
          </a:xfrm>
          <a:prstGeom prst="ellipse">
            <a:avLst/>
          </a:prstGeom>
          <a:solidFill>
            <a:srgbClr val="2A6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D21CFE-CA08-0A49-CF98-359B57F6AF90}"/>
              </a:ext>
            </a:extLst>
          </p:cNvPr>
          <p:cNvSpPr/>
          <p:nvPr/>
        </p:nvSpPr>
        <p:spPr>
          <a:xfrm>
            <a:off x="809244" y="7011812"/>
            <a:ext cx="943356" cy="812451"/>
          </a:xfrm>
          <a:prstGeom prst="ellipse">
            <a:avLst/>
          </a:prstGeom>
          <a:solidFill>
            <a:srgbClr val="2A6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4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0D143B-6607-1ED4-6C1C-33708E9F848E}"/>
              </a:ext>
            </a:extLst>
          </p:cNvPr>
          <p:cNvSpPr txBox="1"/>
          <p:nvPr/>
        </p:nvSpPr>
        <p:spPr>
          <a:xfrm>
            <a:off x="2283542" y="3818336"/>
            <a:ext cx="1493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rgbClr val="232D34"/>
                </a:solidFill>
                <a:latin typeface="Aptos"/>
              </a:rPr>
              <a:t>Monitor running processes and display PID, process name and memory usage.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4E0692-792E-25CC-CC14-29606CA1B90A}"/>
              </a:ext>
            </a:extLst>
          </p:cNvPr>
          <p:cNvSpPr txBox="1"/>
          <p:nvPr/>
        </p:nvSpPr>
        <p:spPr>
          <a:xfrm>
            <a:off x="2283542" y="5323467"/>
            <a:ext cx="1493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rgbClr val="232D34"/>
                </a:solidFill>
                <a:latin typeface="Aptos"/>
              </a:rPr>
              <a:t>Demonstrate Linux/POSIX concepts such as /proc, file I/O, system calls and process management.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7EB3FA-0131-80AC-7650-3554647A48A6}"/>
              </a:ext>
            </a:extLst>
          </p:cNvPr>
          <p:cNvSpPr txBox="1"/>
          <p:nvPr/>
        </p:nvSpPr>
        <p:spPr>
          <a:xfrm>
            <a:off x="2283542" y="6817703"/>
            <a:ext cx="1493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rgbClr val="232D34"/>
                </a:solidFill>
                <a:latin typeface="Aptos"/>
              </a:rPr>
              <a:t>Test the correctness and performance of the monitoring functions under different system conditions.</a:t>
            </a:r>
          </a:p>
        </p:txBody>
      </p:sp>
    </p:spTree>
    <p:extLst>
      <p:ext uri="{BB962C8B-B14F-4D97-AF65-F5344CB8AC3E}">
        <p14:creationId xmlns:p14="http://schemas.microsoft.com/office/powerpoint/2010/main" val="3943733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EBB958-8C68-EEDE-F524-986885B5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55EC44F-1B24-093C-9E7F-DBCD4A904D8C}"/>
              </a:ext>
            </a:extLst>
          </p:cNvPr>
          <p:cNvGrpSpPr/>
          <p:nvPr/>
        </p:nvGrpSpPr>
        <p:grpSpPr>
          <a:xfrm>
            <a:off x="0" y="0"/>
            <a:ext cx="18288000" cy="2324100"/>
            <a:chOff x="0" y="0"/>
            <a:chExt cx="4816593" cy="10797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D0034D-6D82-089A-BAC5-A73268F32ED2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DC1911C-7515-126A-073A-89B9F787FB9A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27A3636-5D76-8C08-E715-118BC9001162}"/>
              </a:ext>
            </a:extLst>
          </p:cNvPr>
          <p:cNvSpPr txBox="1"/>
          <p:nvPr/>
        </p:nvSpPr>
        <p:spPr>
          <a:xfrm>
            <a:off x="1028700" y="599709"/>
            <a:ext cx="9914964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b="1" dirty="0">
                <a:solidFill>
                  <a:srgbClr val="0D4866"/>
                </a:solidFill>
                <a:latin typeface="Cormorant Garamond Bold Italics" panose="020B0604020202020204" charset="0"/>
              </a:rPr>
              <a:t>Expected Outcome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DBFBEDE3-393A-8E58-5953-6885E86098B5}"/>
              </a:ext>
            </a:extLst>
          </p:cNvPr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AE45016A-F1F1-D661-96CE-DA89FC0938C7}"/>
              </a:ext>
            </a:extLst>
          </p:cNvPr>
          <p:cNvSpPr/>
          <p:nvPr/>
        </p:nvSpPr>
        <p:spPr>
          <a:xfrm>
            <a:off x="8304001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4FC33-C6C6-AB30-EA82-A7B1154B8F9F}"/>
              </a:ext>
            </a:extLst>
          </p:cNvPr>
          <p:cNvSpPr txBox="1"/>
          <p:nvPr/>
        </p:nvSpPr>
        <p:spPr>
          <a:xfrm>
            <a:off x="838200" y="2869293"/>
            <a:ext cx="162306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lang="en-US" sz="3600" dirty="0"/>
              <a:t>• A functional Linux-based System Information and Resource Monitoring Tool.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lang="en-US" sz="3600" dirty="0"/>
              <a:t>• Display of CPU usage, memory usage, disk information and system uptime.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lang="en-US" sz="3600" dirty="0"/>
              <a:t>• Display of running process details such as PID, process name and memory usage.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lang="en-US" sz="3600" dirty="0"/>
              <a:t>• Practical demonstration of /proc, Linux/POSIX system calls, file I/O and process management.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lang="en-US" sz="3600" dirty="0"/>
              <a:t>• A simple terminal interface that provides useful system information.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lang="en-US" sz="3600" dirty="0"/>
              <a:t>• Testing and performance analysis under different system conditions.</a:t>
            </a:r>
          </a:p>
        </p:txBody>
      </p:sp>
    </p:spTree>
    <p:extLst>
      <p:ext uri="{BB962C8B-B14F-4D97-AF65-F5344CB8AC3E}">
        <p14:creationId xmlns:p14="http://schemas.microsoft.com/office/powerpoint/2010/main" val="1533671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3369664"/>
            <a:ext cx="11402580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586</Words>
  <Application>Microsoft Office PowerPoint</Application>
  <PresentationFormat>Custom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Cormorant Garamond Bold Italics</vt:lpstr>
      <vt:lpstr>Quicksand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Modern Enhancing Sales Strategy Presentation</dc:title>
  <cp:lastModifiedBy>deekshitha dhatrika</cp:lastModifiedBy>
  <cp:revision>6</cp:revision>
  <dcterms:created xsi:type="dcterms:W3CDTF">2006-08-16T00:00:00Z</dcterms:created>
  <dcterms:modified xsi:type="dcterms:W3CDTF">2026-09-24T05:38:51Z</dcterms:modified>
  <dc:identifier>DAHWFCQ0nGg</dc:identifier>
</cp:coreProperties>
</file>